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144"/>
          </a:solidFill>
          <a:ln w="12700">
            <a:solidFill>
              <a:srgbClr val="0B13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20040"/>
            <a:ext cx="11551615" cy="6217920"/>
          </a:xfrm>
          <a:prstGeom prst="rect">
            <a:avLst>
              <a:gd name="adj" fmla="val 1765"/>
            </a:avLst>
          </a:prstGeom>
          <a:solidFill>
            <a:srgbClr val="101B31"/>
          </a:solidFill>
          <a:ln w="12700">
            <a:solidFill>
              <a:srgbClr val="2E466A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9875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재선택 시스템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166420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결과 확인 이후, 고등급 중복 결과를 후속 선택 경험으로 전환하는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17627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획득 구조를 대체하지 않고, 희귀 결과의 손실 체감을 완화하는 보정 장치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96112" y="2907792"/>
            <a:ext cx="2926080" cy="841248"/>
          </a:xfrm>
          <a:prstGeom prst="roundRect">
            <a:avLst>
              <a:gd name="adj" fmla="val 8696"/>
            </a:avLst>
          </a:prstGeom>
          <a:solidFill>
            <a:srgbClr val="162238"/>
          </a:solidFill>
          <a:ln w="12700">
            <a:solidFill>
              <a:srgbClr val="2E46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303580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흐름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" y="3236976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→ 결과 확인 → 후속 선택 → 보유 누적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0" y="1005840"/>
            <a:ext cx="4434840" cy="4160520"/>
          </a:xfrm>
          <a:prstGeom prst="roundRect">
            <a:avLst>
              <a:gd name="adj" fmla="val 1758"/>
            </a:avLst>
          </a:prstGeom>
          <a:solidFill>
            <a:srgbClr val="1B2A43">
              <a:alpha val="92000"/>
            </a:srgbClr>
          </a:solidFill>
          <a:ln w="12700">
            <a:solidFill>
              <a:srgbClr val="53B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84848" y="1207008"/>
            <a:ext cx="4032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B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필요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39712" y="1572768"/>
            <a:ext cx="392277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메인 화면 1컷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320272" y="64373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 w="12700">
            <a:solidFill>
              <a:srgbClr val="0B13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20040"/>
            <a:ext cx="11551615" cy="6217920"/>
          </a:xfrm>
          <a:prstGeom prst="rect">
            <a:avLst>
              <a:gd name="adj" fmla="val 1765"/>
            </a:avLst>
          </a:prstGeom>
          <a:solidFill>
            <a:srgbClr val="0D172B"/>
          </a:solidFill>
          <a:ln w="12700">
            <a:solidFill>
              <a:srgbClr val="2E466A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5029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SSR은 수집 후반부에 손실 경험으로 작동한다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744200" cy="0"/>
          </a:xfrm>
          <a:prstGeom prst="line">
            <a:avLst/>
          </a:prstGeom>
          <a:noFill/>
          <a:ln w="12700">
            <a:solidFill>
              <a:srgbClr val="2E4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5486400" cy="2286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슬롯이 채워질수록 원하는 결과를 얻기 어려워진다.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구간에서 중복 SSR은 성장 자산보다 원하는 결과를 얻지 못한 실패로 체감되기 쉽다.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과금 효율이 운에 과도하게 종속되면, 뽑기 지속 의사 자체가 약해질 수 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" y="4187952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162238"/>
          </a:solidFill>
          <a:ln w="12700">
            <a:solidFill>
              <a:srgbClr val="2E46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4315968"/>
            <a:ext cx="5065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" y="4517136"/>
            <a:ext cx="5065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희귀 결과가 나와도 만족이 아니라 종료 감각으로 이어질 수 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20840" y="1572768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1B2A43">
              <a:alpha val="92000"/>
            </a:srgbClr>
          </a:solidFill>
          <a:ln w="12700">
            <a:solidFill>
              <a:srgbClr val="53B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22008" y="1773936"/>
            <a:ext cx="3758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B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필요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76872" y="2139696"/>
            <a:ext cx="36484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SSR이 나온 소환 결과 팝업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320272" y="64373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 w="12700">
            <a:solidFill>
              <a:srgbClr val="0B13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20040"/>
            <a:ext cx="11551615" cy="6217920"/>
          </a:xfrm>
          <a:prstGeom prst="rect">
            <a:avLst>
              <a:gd name="adj" fmla="val 1765"/>
            </a:avLst>
          </a:prstGeom>
          <a:solidFill>
            <a:srgbClr val="0D172B"/>
          </a:solidFill>
          <a:ln w="12700">
            <a:solidFill>
              <a:srgbClr val="2E466A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5029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결과의 감정 경험을 후속 행동으로 연결한다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744200" cy="0"/>
          </a:xfrm>
          <a:prstGeom prst="line">
            <a:avLst/>
          </a:prstGeom>
          <a:noFill/>
          <a:ln w="12700">
            <a:solidFill>
              <a:srgbClr val="2E4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5349240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소환은 결과를 체감하는 메인 획득 경험을 담당한다.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관리는 중복 SSR을 후속 의사결정 대상으로 전환한다.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영웅 인벤토리는 획득 결과가 실제로 누적되고 있다는 감각을 보완한다.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" y="4069080"/>
            <a:ext cx="5413248" cy="960120"/>
          </a:xfrm>
          <a:prstGeom prst="roundRect">
            <a:avLst>
              <a:gd name="adj" fmla="val 7619"/>
            </a:avLst>
          </a:prstGeom>
          <a:solidFill>
            <a:srgbClr val="162238"/>
          </a:solidFill>
          <a:ln w="12700">
            <a:solidFill>
              <a:srgbClr val="2E46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4197096"/>
            <a:ext cx="508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역할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" y="4398264"/>
            <a:ext cx="50840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시스템은 독립 기능이 아니라, 메인 가챠 루프 안에서 작동하는 감정 정리 장치다.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0" y="1481328"/>
            <a:ext cx="4480560" cy="3611880"/>
          </a:xfrm>
          <a:prstGeom prst="roundRect">
            <a:avLst>
              <a:gd name="adj" fmla="val 2025"/>
            </a:avLst>
          </a:prstGeom>
          <a:solidFill>
            <a:srgbClr val="1B2A43">
              <a:alpha val="92000"/>
            </a:srgbClr>
          </a:solidFill>
          <a:ln w="12700">
            <a:solidFill>
              <a:srgbClr val="53B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84848" y="1682496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B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필요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39712" y="2048256"/>
            <a:ext cx="396849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화면 / 결과 팝업 / 확정 관리 / 영웅 인벤토리 연결 구조도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320272" y="64373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 w="12700">
            <a:solidFill>
              <a:srgbClr val="0B13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20040"/>
            <a:ext cx="11551615" cy="6217920"/>
          </a:xfrm>
          <a:prstGeom prst="rect">
            <a:avLst>
              <a:gd name="adj" fmla="val 1765"/>
            </a:avLst>
          </a:prstGeom>
          <a:solidFill>
            <a:srgbClr val="0D172B"/>
          </a:solidFill>
          <a:ln w="12700">
            <a:solidFill>
              <a:srgbClr val="2E466A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5029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→ 결과 확인 → 확정 관리 → 보유 누적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744200" cy="0"/>
          </a:xfrm>
          <a:prstGeom prst="line">
            <a:avLst/>
          </a:prstGeom>
          <a:noFill/>
          <a:ln w="12700">
            <a:solidFill>
              <a:srgbClr val="2E4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72768"/>
            <a:ext cx="548640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10회 소환 결과는 결과 팝업에서 먼저 확인한다.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결과는 즉시 보유 현황에 반영된다.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SSR 결과는 확정 관리 대상이 되어 후속 선택 기회를 만든다.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선택 결과는 인벤토리에 반영되고, 관리 리스트에서는 제거된다.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" y="4370832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162238"/>
          </a:solidFill>
          <a:ln w="12700">
            <a:solidFill>
              <a:srgbClr val="2E46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4498848"/>
            <a:ext cx="5111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의도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" y="4700016"/>
            <a:ext cx="5111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재선택은 독립 메뉴가 아니라, 소환 결과 이후 의미가 생기는 후속 기능으로 설계했다.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29400" y="1572768"/>
            <a:ext cx="4343400" cy="3611880"/>
          </a:xfrm>
          <a:prstGeom prst="roundRect">
            <a:avLst>
              <a:gd name="adj" fmla="val 2025"/>
            </a:avLst>
          </a:prstGeom>
          <a:solidFill>
            <a:srgbClr val="1B2A43">
              <a:alpha val="92000"/>
            </a:srgbClr>
          </a:solidFill>
          <a:ln w="12700">
            <a:solidFill>
              <a:srgbClr val="53B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0568" y="1773936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B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필요 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85432" y="2139696"/>
            <a:ext cx="383133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10회 소환 결과 팝업 / 확정 관리 팝업 2컷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320272" y="64373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 w="12700">
            <a:solidFill>
              <a:srgbClr val="0B13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20040"/>
            <a:ext cx="11551615" cy="6217920"/>
          </a:xfrm>
          <a:prstGeom prst="rect">
            <a:avLst>
              <a:gd name="adj" fmla="val 1765"/>
            </a:avLst>
          </a:prstGeom>
          <a:solidFill>
            <a:srgbClr val="0D172B"/>
          </a:solidFill>
          <a:ln w="12700">
            <a:solidFill>
              <a:srgbClr val="2E466A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5029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유지형 재선택 구조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744200" cy="0"/>
          </a:xfrm>
          <a:prstGeom prst="line">
            <a:avLst/>
          </a:prstGeom>
          <a:noFill/>
          <a:ln w="12700">
            <a:solidFill>
              <a:srgbClr val="2E4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5440680" cy="2606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관리는 SSR 결과가 나왔을 때만 진입 가치가 생긴다.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SSR은 유지된다.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재선택 시 후보 슬롯이 순차적으로 열린다.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유저는 원본 또는 열린 후보 중 하나를 최종 선택한다.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재선택 시도에는 전환기가 소모된다.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" y="448056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2E46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4608576"/>
            <a:ext cx="5111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재화 설계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" y="4809744"/>
            <a:ext cx="5111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획득 가치와 후속 보정 가치를 분리하기 위해, 소환과 재선택은 서로 다른 재화를 사용한다.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75120" y="1664208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1B2A43">
              <a:alpha val="92000"/>
            </a:srgbClr>
          </a:solidFill>
          <a:ln w="12700">
            <a:solidFill>
              <a:srgbClr val="53B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6288" y="186537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B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필요 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31152" y="2231136"/>
            <a:ext cx="378561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관리 팝업 1컷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320272" y="64373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 w="12700">
            <a:solidFill>
              <a:srgbClr val="0B13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20040"/>
            <a:ext cx="11551615" cy="6217920"/>
          </a:xfrm>
          <a:prstGeom prst="rect">
            <a:avLst>
              <a:gd name="adj" fmla="val 1765"/>
            </a:avLst>
          </a:prstGeom>
          <a:solidFill>
            <a:srgbClr val="0D172B"/>
          </a:solidFill>
          <a:ln w="12700">
            <a:solidFill>
              <a:srgbClr val="2E466A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5029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SSR은 손실에서 선택 기회로 바뀐다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744200" cy="0"/>
          </a:xfrm>
          <a:prstGeom prst="line">
            <a:avLst/>
          </a:prstGeom>
          <a:noFill/>
          <a:ln w="12700">
            <a:solidFill>
              <a:srgbClr val="2E4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0200"/>
            <a:ext cx="5440680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전: 중복 SSR은 즉시 손실로 받아들여지고, 소환 경험은 단발성으로 끝난다.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후: 중복 SSR은 확정 관리로 이어지며, 결과 이후의 행동이 한 단계 더 생긴다.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결과적으로 직접 획득 가치는 유지하면서, 손실 체감은 완화한다.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" y="4187952"/>
            <a:ext cx="5440680" cy="877824"/>
          </a:xfrm>
          <a:prstGeom prst="roundRect">
            <a:avLst>
              <a:gd name="adj" fmla="val 8333"/>
            </a:avLst>
          </a:prstGeom>
          <a:solidFill>
            <a:srgbClr val="162238"/>
          </a:solidFill>
          <a:ln w="12700">
            <a:solidFill>
              <a:srgbClr val="2E46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4315968"/>
            <a:ext cx="5111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변화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" y="4517136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변화는 아쉬운 결과를 정리 가능한 결과로 재인식하게 만드는 것이다.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29400" y="1572768"/>
            <a:ext cx="4389120" cy="3520440"/>
          </a:xfrm>
          <a:prstGeom prst="roundRect">
            <a:avLst>
              <a:gd name="adj" fmla="val 2078"/>
            </a:avLst>
          </a:prstGeom>
          <a:solidFill>
            <a:srgbClr val="1B2A43">
              <a:alpha val="92000"/>
            </a:srgbClr>
          </a:solidFill>
          <a:ln w="12700">
            <a:solidFill>
              <a:srgbClr val="53B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0568" y="1773936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B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필요 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85432" y="2139696"/>
            <a:ext cx="3877056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전/후 유저 행동 비교 도식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320272" y="64373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 w="12700">
            <a:solidFill>
              <a:srgbClr val="0B13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20040"/>
            <a:ext cx="11551615" cy="6217920"/>
          </a:xfrm>
          <a:prstGeom prst="rect">
            <a:avLst>
              <a:gd name="adj" fmla="val 1765"/>
            </a:avLst>
          </a:prstGeom>
          <a:solidFill>
            <a:srgbClr val="0D172B"/>
          </a:solidFill>
          <a:ln w="12700">
            <a:solidFill>
              <a:srgbClr val="2E466A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5029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SSR 접근성보다, 과금 효율 붕괴 완화가 핵심이다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744200" cy="0"/>
          </a:xfrm>
          <a:prstGeom prst="line">
            <a:avLst/>
          </a:prstGeom>
          <a:noFill/>
          <a:ln w="12700">
            <a:solidFill>
              <a:srgbClr val="2E4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72768"/>
            <a:ext cx="5532120" cy="2697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시스템은 특정 SSR을 싸게 주는 장치가 아니다.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SSR이 즉시 손실로 끝나지 않고, 후속 재선택 기회로 전환된다.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소환 재화라도 직접 획득 확률과 후속 선택 기회가 합쳐져 목표 결과 접근성이 높아질 수 있다.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가치는 효율 상승 자체보다 운 요소로 무너지는 과금 체감의 완충에 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" y="461772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62238"/>
          </a:solidFill>
          <a:ln w="12700">
            <a:solidFill>
              <a:srgbClr val="2E46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4745736"/>
            <a:ext cx="5157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기준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" y="49469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효율이 너무 높아지면 직접 소환 가치가 흔들릴 수 있으므로, 개선보다 붕괴 방지선 형성에 가깝게 설계해야 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29400" y="1627632"/>
            <a:ext cx="4297680" cy="3611880"/>
          </a:xfrm>
          <a:prstGeom prst="roundRect">
            <a:avLst>
              <a:gd name="adj" fmla="val 2025"/>
            </a:avLst>
          </a:prstGeom>
          <a:solidFill>
            <a:srgbClr val="162238"/>
          </a:solidFill>
          <a:ln w="12700">
            <a:solidFill>
              <a:srgbClr val="2E46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828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B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 비교 placeholder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39712" y="2212848"/>
          <a:ext cx="388620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325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7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7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7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7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소환량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7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수치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7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수치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7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재화 소모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7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수치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7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수치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7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SSR 가치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7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 손실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7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후속 선택 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3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11320272" y="64373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 w="12700">
            <a:solidFill>
              <a:srgbClr val="0B13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20040"/>
            <a:ext cx="11551615" cy="6217920"/>
          </a:xfrm>
          <a:prstGeom prst="rect">
            <a:avLst>
              <a:gd name="adj" fmla="val 1765"/>
            </a:avLst>
          </a:prstGeom>
          <a:solidFill>
            <a:srgbClr val="0D172B"/>
          </a:solidFill>
          <a:ln w="12700">
            <a:solidFill>
              <a:srgbClr val="2E466A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5029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완화 장치와 직접 소환 가치의 균형이 필요하다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744200" cy="0"/>
          </a:xfrm>
          <a:prstGeom prst="line">
            <a:avLst/>
          </a:prstGeom>
          <a:noFill/>
          <a:ln w="12700">
            <a:solidFill>
              <a:srgbClr val="2E4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72768"/>
            <a:ext cx="5623560" cy="2606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SSR 유입 빈도가 높으면 확정 관리가 보상보다 관리 피로로 느껴질 수 있다.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재선택 효율이 직접 획득보다 높게 느껴지면, 소환 결과보다 후속 교환이 더 중요한 구조로 오해될 수 있다.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 재선택 체감이 약하면 손실 완화 장치로 기능하지 못한다.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지표는 확정 관리 진입률, 클릭률, 재선택 사용률, 최종 선택 완료율, 이탈률을 중심으로 본다.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" y="4608576"/>
            <a:ext cx="5596128" cy="877824"/>
          </a:xfrm>
          <a:prstGeom prst="roundRect">
            <a:avLst>
              <a:gd name="adj" fmla="val 8333"/>
            </a:avLst>
          </a:prstGeom>
          <a:solidFill>
            <a:srgbClr val="162238"/>
          </a:solidFill>
          <a:ln w="12700">
            <a:solidFill>
              <a:srgbClr val="2E46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4736592"/>
            <a:ext cx="5266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" y="4937760"/>
            <a:ext cx="5266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희귀 결과가 손실로 끝나지 않으면서도, 직접 획득 가치가 더 높게 유지되는가.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93408" y="1627632"/>
            <a:ext cx="4251960" cy="3566160"/>
          </a:xfrm>
          <a:prstGeom prst="roundRect">
            <a:avLst>
              <a:gd name="adj" fmla="val 2051"/>
            </a:avLst>
          </a:prstGeom>
          <a:solidFill>
            <a:srgbClr val="1B2A43">
              <a:alpha val="92000"/>
            </a:srgbClr>
          </a:solidFill>
          <a:ln w="12700">
            <a:solidFill>
              <a:srgbClr val="53B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94576" y="1828800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B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필요 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2194560"/>
            <a:ext cx="373989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7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관리 누적 상태 / 완료 팝업 / 영웅 인벤토리 중 1~2컷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320272" y="64373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소환 재선택 시스템</dc:title>
  <dc:subject>소환 재선택 시스템</dc:subject>
  <dc:creator>OpenAI Codex</dc:creator>
  <cp:lastModifiedBy>OpenAI Codex</cp:lastModifiedBy>
  <cp:revision>1</cp:revision>
  <dcterms:created xsi:type="dcterms:W3CDTF">2026-05-01T06:18:45Z</dcterms:created>
  <dcterms:modified xsi:type="dcterms:W3CDTF">2026-05-01T06:18:45Z</dcterms:modified>
</cp:coreProperties>
</file>